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Abertura. Nome do grupo e integrantes. 'Escolhemos o tema T1, anamnese.'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produtor perde dinheiro três vezes: menos leite, leite descartado e vaca perdida. E a doença mais comum é justamente a que dá para pegar cedo com teste de campo barato.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Ler a citação em voz alta. É o critério pelo qual seremos avaliados.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slide-chave. A IA construiu o sistema; ela não decide nada em runtime.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que o desenho é o do slide 14 da apresentação do Hackathon, camada por camada.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Ler a regra em voz alta. O ponto é que ela é legível por quem entende de vaca, não de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costuma ganhar pontos: mostra consciência do limite do que foi construído.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que disparar uma regra por ciclo é o que faz a resolução de conflito ter efeito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slide que prova domínio técnico. Percorrer o cálculo com o dedo na tela.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Pergunta provável da banca: 'e se o produtor não souber responder?' — a resposta está aqui.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Amarrar com o slide 14 do Hackathon: 'módulo de explicação responde por quê e como'.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Trocar para o navegador em localhost:8081. Seguir o roteiro na ordem. Se algo falhar: Configurações &gt; Recriar dados de demonstração.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Oferecer rodar os casos ao vivo na tela da base de conhecimento.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Encontrar erro na fonte mostra que os cálculos foram realmente conferidos, não copiados.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Fechar o argumento: o produtor adota o que ele enxerga que dá dinheiro.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os erros é mais convincente do que escondê-los: prova que entendemos o que foi produzido.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prometer o que não existe. A banca percebe, e isso custa caro.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Agradecer e abrir para perguntas. Deixar o app aberto no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5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ED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-mo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727" y="777240"/>
            <a:ext cx="1920240" cy="1920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288036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6000" b="1" i="0">
                <a:solidFill>
                  <a:srgbClr val="FFFFFF"/>
                </a:solidFill>
                <a:latin typeface="Segoe UI"/>
              </a:rPr>
              <a:t>Dr. Moo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86200"/>
            <a:ext cx="94484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 i="0">
                <a:solidFill>
                  <a:srgbClr val="BFE3E7"/>
                </a:solidFill>
                <a:latin typeface="Segoe UI"/>
              </a:rPr>
              <a:t>Sistema especialista de anamnese e triagem</a:t>
            </a:r>
          </a:p>
          <a:p>
            <a:pPr algn="ctr">
              <a:lnSpc>
                <a:spcPct val="125000"/>
              </a:lnSpc>
            </a:pPr>
            <a:r>
              <a:rPr sz="1900" b="0" i="0">
                <a:solidFill>
                  <a:srgbClr val="BFE3E7"/>
                </a:solidFill>
                <a:latin typeface="Segoe UI"/>
              </a:rPr>
              <a:t>de bovinos leiteiros em lactação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90007" y="4956048"/>
            <a:ext cx="2011680" cy="32004"/>
          </a:xfrm>
          <a:prstGeom prst="rect">
            <a:avLst/>
          </a:prstGeom>
          <a:solidFill>
            <a:srgbClr val="7ED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5230368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 i="0">
                <a:solidFill>
                  <a:srgbClr val="9DC8CE"/>
                </a:solidFill>
                <a:latin typeface="Segoe UI"/>
              </a:rPr>
              <a:t>Hackathon UFJF 2026  ·  XXVIII Semana da Computação do DCC/UFJF</a:t>
            </a:r>
          </a:p>
          <a:p>
            <a:pPr algn="ctr">
              <a:lnSpc>
                <a:spcPct val="135000"/>
              </a:lnSpc>
            </a:pPr>
            <a:r>
              <a:rPr sz="1300" b="0" i="0">
                <a:solidFill>
                  <a:srgbClr val="9DC8CE"/>
                </a:solidFill>
                <a:latin typeface="Segoe UI"/>
              </a:rPr>
              <a:t>RERUM Engenharia de Sistemas  ·  Tema T1 — Anamnese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58368"/>
            <a:ext cx="82296" cy="475488"/>
          </a:xfrm>
          <a:prstGeom prst="rect">
            <a:avLst/>
          </a:prstGeom>
          <a:solidFill>
            <a:srgbClr val="01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566928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015B66"/>
                </a:solidFill>
                <a:latin typeface="Segoe UI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207008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24E57"/>
                </a:solidFill>
                <a:latin typeface="Segoe UI"/>
              </a:rPr>
              <a:t>A mastite é a doença mais frequente das vacas de leite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Reduz quantidade e qualidade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Vacas com mastite produzem menos leite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e elevam a CCS do tanque inteiro.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0292" cy="1783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34840" y="192024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É altamente contagiosa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Passa de vaca para vaca durante a ordenha,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pelas mãos do retireiro e pelos tetos.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920240"/>
            <a:ext cx="50292" cy="17830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0" y="1920240"/>
            <a:ext cx="33375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Pode custar a mama — ou a vaca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Sem tratamento rápido, o animal perde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o quarto mamário ou morre.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920240"/>
            <a:ext cx="50292" cy="1783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4200" b="1" i="0">
                <a:solidFill>
                  <a:srgbClr val="015B66"/>
                </a:solidFill>
                <a:latin typeface="Segoe UI"/>
              </a:rPr>
              <a:t>≤ 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28032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424E57"/>
                </a:solidFill>
                <a:latin typeface="Segoe UI"/>
              </a:rPr>
              <a:t>meta de mastite clínica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424E57"/>
                </a:solidFill>
                <a:latin typeface="Segoe UI"/>
              </a:rPr>
              <a:t>por mês no rebanho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11480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4200" b="1" i="0">
                <a:solidFill>
                  <a:srgbClr val="015B66"/>
                </a:solidFill>
                <a:latin typeface="Segoe UI"/>
              </a:rPr>
              <a:t>≤ 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828032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424E57"/>
                </a:solidFill>
                <a:latin typeface="Segoe UI"/>
              </a:rPr>
              <a:t>meta de vacas com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424E57"/>
                </a:solidFill>
                <a:latin typeface="Segoe UI"/>
              </a:rPr>
              <a:t>mastite subclínica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11480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4200" b="1" i="0">
                <a:solidFill>
                  <a:srgbClr val="015B66"/>
                </a:solidFill>
                <a:latin typeface="Segoe UI"/>
              </a:rPr>
              <a:t>200 mil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828032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424E57"/>
                </a:solidFill>
                <a:latin typeface="Segoe UI"/>
              </a:rPr>
              <a:t>CCS por mL acima da qual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424E57"/>
                </a:solidFill>
                <a:latin typeface="Segoe UI"/>
              </a:rPr>
              <a:t>há mastite subclínica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411480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4200" b="1" i="0">
                <a:solidFill>
                  <a:srgbClr val="015B66"/>
                </a:solidFill>
                <a:latin typeface="Segoe UI"/>
              </a:rPr>
              <a:t>3 meses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4828032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424E57"/>
                </a:solidFill>
                <a:latin typeface="Segoe UI"/>
              </a:rPr>
              <a:t>de CMT positivo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424E57"/>
                </a:solidFill>
                <a:latin typeface="Segoe UI"/>
              </a:rPr>
              <a:t>= mastite crônica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291072"/>
            <a:ext cx="107286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1">
                <a:solidFill>
                  <a:srgbClr val="7A858D"/>
                </a:solidFill>
                <a:latin typeface="Segoe UI"/>
              </a:rPr>
              <a:t>Fonte: EMBRAPA. Como identificar a vaca com mastite em sua propriedade, 2015, p. 9, 34, 35, 38 e 39.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13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257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79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30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3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ED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8142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7ED7A1"/>
                </a:solidFill>
                <a:latin typeface="Segoe UI"/>
              </a:rPr>
              <a:t>O QUE O REGULAMENTO PEDE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57400"/>
            <a:ext cx="981425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0" i="0">
                <a:solidFill>
                  <a:srgbClr val="FFFFFF"/>
                </a:solidFill>
                <a:latin typeface="Segoe UI"/>
              </a:rPr>
              <a:t>“Construir uma aplicação para usuário final que resolva um</a:t>
            </a:r>
          </a:p>
          <a:p>
            <a:pPr algn="l">
              <a:lnSpc>
                <a:spcPct val="130000"/>
              </a:lnSpc>
            </a:pPr>
            <a:r>
              <a:rPr sz="2600" b="0" i="0">
                <a:solidFill>
                  <a:srgbClr val="FFFFFF"/>
                </a:solidFill>
                <a:latin typeface="Segoe UI"/>
              </a:rPr>
              <a:t>problema da pecuária leiteira por meio de uma base explícita</a:t>
            </a:r>
          </a:p>
          <a:p>
            <a:pPr algn="l">
              <a:lnSpc>
                <a:spcPct val="130000"/>
              </a:lnSpc>
            </a:pPr>
            <a:r>
              <a:rPr sz="2600" b="0" i="0">
                <a:solidFill>
                  <a:srgbClr val="FFFFFF"/>
                </a:solidFill>
                <a:latin typeface="Segoe UI"/>
              </a:rPr>
              <a:t>de conhecimento e um motor de inferência.”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480560"/>
            <a:ext cx="98142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BFE3E7"/>
                </a:solidFill>
                <a:latin typeface="Segoe UI"/>
              </a:rPr>
              <a:t>T1 — Anamnese: coleta estruturada de sinais e histórico de bovinos leiteiros em lactação, com triagem explicável.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303520"/>
            <a:ext cx="98142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7ED7A1"/>
                </a:solidFill>
                <a:latin typeface="Segoe UI"/>
              </a:rPr>
              <a:t>A solução final deve rodar por completo em LOCALHOST.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58368"/>
            <a:ext cx="82296" cy="475488"/>
          </a:xfrm>
          <a:prstGeom prst="rect">
            <a:avLst/>
          </a:prstGeom>
          <a:solidFill>
            <a:srgbClr val="01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566928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015B66"/>
                </a:solidFill>
                <a:latin typeface="Segoe UI"/>
              </a:rPr>
              <a:t>“Não use a LLM como o sistema especialista”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207008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24E57"/>
                </a:solidFill>
                <a:latin typeface="Segoe UI"/>
              </a:rPr>
              <a:t>Diretriz do regulamento — e a decisão que organiza o projeto inteiro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26517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Determinístico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Os mesmos sinais produzem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sempre o mesmo parecer.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50292" cy="1920240"/>
          </a:xfrm>
          <a:prstGeom prst="rect">
            <a:avLst/>
          </a:prstGeom>
          <a:solidFill>
            <a:srgbClr val="01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66160" y="1965960"/>
            <a:ext cx="26517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Auditável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Dá para abrir e ver qual regra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disparou — e por quê.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965960"/>
            <a:ext cx="50292" cy="1920240"/>
          </a:xfrm>
          <a:prstGeom prst="rect">
            <a:avLst/>
          </a:prstGeom>
          <a:solidFill>
            <a:srgbClr val="01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1965960"/>
            <a:ext cx="26517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Revisável pelo veterinário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A base é JSON com fonte citada.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Não é preciso saber programar.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65960"/>
            <a:ext cx="50292" cy="1920240"/>
          </a:xfrm>
          <a:prstGeom prst="rect">
            <a:avLst/>
          </a:prstGeom>
          <a:solidFill>
            <a:srgbClr val="01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35440" y="1965960"/>
            <a:ext cx="22402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Versionado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Um prontuário antigo roda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com a base da época.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1965960"/>
            <a:ext cx="50292" cy="1920240"/>
          </a:xfrm>
          <a:prstGeom prst="rect">
            <a:avLst/>
          </a:prstGeom>
          <a:solidFill>
            <a:srgbClr val="01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10728655" cy="1325880"/>
          </a:xfrm>
          <a:prstGeom prst="roundRect">
            <a:avLst>
              <a:gd name="adj" fmla="val 8000"/>
            </a:avLst>
          </a:prstGeom>
          <a:solidFill>
            <a:srgbClr val="ECF8F1"/>
          </a:solidFill>
          <a:ln w="15875">
            <a:solidFill>
              <a:srgbClr val="2E8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01168"/>
          <a:lstStyle/>
          <a:p>
            <a:pPr algn="ctr"/>
            <a:r>
              <a:rPr sz="1500" b="1">
                <a:solidFill>
                  <a:srgbClr val="0F1F2C"/>
                </a:solidFill>
                <a:latin typeface="Segoe UI"/>
              </a:rPr>
              <a:t>Nenhuma dessas quatro propriedades sobrevive se a decisão sair de um modelo de linguagem.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424E57"/>
                </a:solidFill>
                <a:latin typeface="Segoe UI"/>
              </a:rPr>
              <a:t>No código do aplicativo: zero chamadas de rede em tempo de execução, zero chaves de API, zero referências a serviço de LLM. O app funciona com o aparelho em modo avião.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58368"/>
            <a:ext cx="82296" cy="475488"/>
          </a:xfrm>
          <a:prstGeom prst="rect">
            <a:avLst/>
          </a:prstGeom>
          <a:solidFill>
            <a:srgbClr val="01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566928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015B66"/>
                </a:solidFill>
                <a:latin typeface="Segoe UI"/>
              </a:rPr>
              <a:t>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207008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24E57"/>
                </a:solidFill>
                <a:latin typeface="Segoe UI"/>
              </a:rPr>
              <a:t>As quatro camadas do modelo conceitual de sistema especialista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Interface do usuário   ·   apps/mobile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Expo / React Native + Web — um código roda no Android e em localhost:8081.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0292" cy="960120"/>
          </a:xfrm>
          <a:prstGeom prst="rect">
            <a:avLst/>
          </a:prstGeom>
          <a:solidFill>
            <a:srgbClr val="FE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54864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Motor de inferência   ·   packages/engine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Casa regras com fatos, resolve conflito, dispara, combina CF e gera o traço.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TypeScript puro, ZERO dependências.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50292" cy="1188720"/>
          </a:xfrm>
          <a:prstGeom prst="rect">
            <a:avLst/>
          </a:prstGeom>
          <a:solidFill>
            <a:srgbClr val="2E8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3017520"/>
            <a:ext cx="49834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Módulo de explicação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Responde “por quê?” e “como?”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a partir do traço de inferência.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3017520"/>
            <a:ext cx="50292" cy="1188720"/>
          </a:xfrm>
          <a:prstGeom prst="rect">
            <a:avLst/>
          </a:prstGeom>
          <a:solidFill>
            <a:srgbClr val="2E8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4343400"/>
            <a:ext cx="54864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Base de conhecimento   ·   packages/knowledge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44 regras de produção em JSON, com pesos (CF), fonte citada e versão.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343400"/>
            <a:ext cx="50292" cy="1188720"/>
          </a:xfrm>
          <a:prstGeom prst="rect">
            <a:avLst/>
          </a:prstGeom>
          <a:solidFill>
            <a:srgbClr val="01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4343400"/>
            <a:ext cx="49834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Fontes de dados   ·   packages/db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SQLite local: prontuário, histórico de CMT,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produção, tratamentos.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4343400"/>
            <a:ext cx="50292" cy="1188720"/>
          </a:xfrm>
          <a:prstGeom prst="rect">
            <a:avLst/>
          </a:prstGeom>
          <a:solidFill>
            <a:srgbClr val="01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291072"/>
            <a:ext cx="107286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1">
                <a:solidFill>
                  <a:srgbClr val="7A858D"/>
                </a:solidFill>
                <a:latin typeface="Segoe UI"/>
              </a:rPr>
              <a:t>O motor não importa React, nem SQLite, nem nada de I/O. É isso que o torna testável em milissegundos — e auditável.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58368"/>
            <a:ext cx="82296" cy="475488"/>
          </a:xfrm>
          <a:prstGeom prst="rect">
            <a:avLst/>
          </a:prstGeom>
          <a:solidFill>
            <a:srgbClr val="01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566928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015B66"/>
                </a:solidFill>
                <a:latin typeface="Segoe UI"/>
              </a:rPr>
              <a:t>A base de conhecimento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207008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24E57"/>
                </a:solidFill>
                <a:latin typeface="Segoe UI"/>
              </a:rPr>
              <a:t>Dado, não programa: JSON que um médico-veterinário consegue ler e corrigir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4200" b="1" i="0">
                <a:solidFill>
                  <a:srgbClr val="015B66"/>
                </a:solidFill>
                <a:latin typeface="Segoe UI"/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87752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424E57"/>
                </a:solidFill>
                <a:latin typeface="Segoe UI"/>
              </a:rPr>
              <a:t>regras de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424E57"/>
                </a:solidFill>
                <a:latin typeface="Segoe UI"/>
              </a:rPr>
              <a:t>produção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74519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4200" b="1" i="0">
                <a:solidFill>
                  <a:srgbClr val="015B66"/>
                </a:solidFill>
                <a:latin typeface="Segoe UI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587752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424E57"/>
                </a:solidFill>
                <a:latin typeface="Segoe UI"/>
              </a:rPr>
              <a:t>perguntas, com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424E57"/>
                </a:solidFill>
                <a:latin typeface="Segoe UI"/>
              </a:rPr>
              <a:t>custo de obtenção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874519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4200" b="1" i="0">
                <a:solidFill>
                  <a:srgbClr val="015B66"/>
                </a:solidFill>
                <a:latin typeface="Segoe UI"/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587752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424E57"/>
                </a:solidFill>
                <a:latin typeface="Segoe UI"/>
              </a:rPr>
              <a:t>hipóteses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424E57"/>
                </a:solidFill>
                <a:latin typeface="Segoe UI"/>
              </a:rPr>
              <a:t>diagnósticas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874519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4200" b="1" i="0">
                <a:solidFill>
                  <a:srgbClr val="015B66"/>
                </a:solidFill>
                <a:latin typeface="Segoe UI"/>
              </a:rPr>
              <a:t>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587752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424E57"/>
                </a:solidFill>
                <a:latin typeface="Segoe UI"/>
              </a:rPr>
              <a:t>casos de teste com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424E57"/>
                </a:solidFill>
                <a:latin typeface="Segoe UI"/>
              </a:rPr>
              <a:t>resultado esperado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10728655" cy="2148840"/>
          </a:xfrm>
          <a:prstGeom prst="roundRect">
            <a:avLst>
              <a:gd name="adj" fmla="val 4000"/>
            </a:avLst>
          </a:prstGeom>
          <a:solidFill>
            <a:srgbClr val="052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164592"/>
          <a:lstStyle/>
          <a:p>
            <a:pPr algn="ctr">
              <a:lnSpc>
                <a:spcPct val="135000"/>
              </a:lnSpc>
            </a:pPr>
            <a:r>
              <a:rPr sz="1300" b="1">
                <a:solidFill>
                  <a:srgbClr val="7ED7A1"/>
                </a:solidFill>
                <a:latin typeface="Consolas"/>
              </a:rPr>
              <a:t>MAST-CLIN-G1 — Mastite clínica grau 1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C3DCE0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C3DCE0"/>
                </a:solidFill>
                <a:latin typeface="Consolas"/>
              </a:rPr>
              <a:t>SE   grumos ou pus nos primeiros jatos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C3DCE0"/>
                </a:solidFill>
                <a:latin typeface="Consolas"/>
              </a:rPr>
              <a:t>  OU leite com coloração alterada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C3DCE0"/>
                </a:solidFill>
                <a:latin typeface="Consolas"/>
              </a:rPr>
              <a:t>  OU leite com consistência alterada</a:t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7ED7A1"/>
                </a:solidFill>
                <a:latin typeface="Consolas"/>
              </a:rPr>
              <a:t>ENTÃO diagnóstico = mastite clínica grau 1   (CF 0,95)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C3DCE0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C3DCE0"/>
                </a:solidFill>
                <a:latin typeface="Consolas"/>
              </a:rPr>
              <a:t>Fonte: EMBRAPA, Mastite, 2015, p. 12 e p. 19-20.   Status: validada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21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0" fill="hold" grpId="0" nodeType="withEffect">
                                  <p:stCondLst>
                                    <p:cond delay="25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58368"/>
            <a:ext cx="82296" cy="475488"/>
          </a:xfrm>
          <a:prstGeom prst="rect">
            <a:avLst/>
          </a:prstGeom>
          <a:solidFill>
            <a:srgbClr val="01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566928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015B66"/>
                </a:solidFill>
                <a:latin typeface="Segoe UI"/>
              </a:rPr>
              <a:t>Procedência do conhecimento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207008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24E57"/>
                </a:solidFill>
                <a:latin typeface="Segoe UI"/>
              </a:rPr>
              <a:t>O que foi verificado e o que ainda não foi — dito em voz alta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53492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17 regras   ·   validadas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Grupo de mastite, extraído integralmente da cartilha da Embrapa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Gado de Leite (2015), com a PÁGINA citada regra a regra.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50292" cy="1828800"/>
          </a:xfrm>
          <a:prstGeom prst="rect">
            <a:avLst/>
          </a:prstGeom>
          <a:solidFill>
            <a:srgbClr val="2E8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55080" y="1965960"/>
            <a:ext cx="51206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27 regras   ·   a revisar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Demais grupos clínicos, formalizados a partir de consenso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veterinário geral, sem conferência com fonte primária.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965960"/>
            <a:ext cx="50292" cy="1828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728655" cy="1463040"/>
          </a:xfrm>
          <a:prstGeom prst="roundRect">
            <a:avLst>
              <a:gd name="adj" fmla="val 8000"/>
            </a:avLst>
          </a:prstGeom>
          <a:solidFill>
            <a:srgbClr val="FEF6E9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/>
            <a:r>
              <a:rPr sz="1400" b="1">
                <a:solidFill>
                  <a:srgbClr val="0F1F2C"/>
                </a:solidFill>
                <a:latin typeface="Segoe UI"/>
              </a:rPr>
              <a:t>No aplicativo, toda conclusão que depende dessas regras aparece com o selo “requer validação técnica”.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424E57"/>
                </a:solidFill>
                <a:latin typeface="Segoe UI"/>
              </a:rPr>
              <a:t>Uma LLM produz regra clínica plausível com a mesma fluência com que produz regra verificada — e a diferença não aparece no texto gerado. Marcar a fronteira é informação clínica, não fraqueza.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2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58368"/>
            <a:ext cx="82296" cy="475488"/>
          </a:xfrm>
          <a:prstGeom prst="rect">
            <a:avLst/>
          </a:prstGeom>
          <a:solidFill>
            <a:srgbClr val="01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566928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015B66"/>
                </a:solidFill>
                <a:latin typeface="Segoe UI"/>
              </a:rPr>
              <a:t>O motor de inferência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207008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24E57"/>
                </a:solidFill>
                <a:latin typeface="Segoe UI"/>
              </a:rPr>
              <a:t>Progressivo para concluir, regressivo para decidir o que perguntar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349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Encadeamento PROGRESSIVO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Dispara UMA regra por ciclo — a vencedora da resolução de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conflito — e repete até o ponto fixo. Com refração.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0292" cy="1600200"/>
          </a:xfrm>
          <a:prstGeom prst="rect">
            <a:avLst/>
          </a:prstGeom>
          <a:solidFill>
            <a:srgbClr val="01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55080" y="1920240"/>
            <a:ext cx="51206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Encadeamento REGRESSIVO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Escolhe a próxima pergunta pelo que ainda pode mudar 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diagnóstico, dividido pelo custo de obter a resposta.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920240"/>
            <a:ext cx="50292" cy="1600200"/>
          </a:xfrm>
          <a:prstGeom prst="rect">
            <a:avLst/>
          </a:prstGeom>
          <a:solidFill>
            <a:srgbClr val="01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70332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Resolução de conflito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1. bandeira vermelha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2. especificidade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3. prioridade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4. recência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5. ordem de declaração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03320"/>
            <a:ext cx="50292" cy="1783080"/>
          </a:xfrm>
          <a:prstGeom prst="rect">
            <a:avLst/>
          </a:prstGeom>
          <a:solidFill>
            <a:srgbClr val="0E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370332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Recursão em submetas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Para chegar ao grau 2 da mastite,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o motor descobre sozinho que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precisa antes perguntar o que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estabelece o grau 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3703320"/>
            <a:ext cx="50292" cy="1783080"/>
          </a:xfrm>
          <a:prstGeom prst="rect">
            <a:avLst/>
          </a:prstGeom>
          <a:solidFill>
            <a:srgbClr val="0E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3703320"/>
            <a:ext cx="33375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Custo da pergunta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1 = observação direta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3 = exige manejo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5 = exame laboratorial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/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Pergunta barata vem primeiro.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3703320"/>
            <a:ext cx="50292" cy="1783080"/>
          </a:xfrm>
          <a:prstGeom prst="rect">
            <a:avLst/>
          </a:prstGeom>
          <a:solidFill>
            <a:srgbClr val="0E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3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58368"/>
            <a:ext cx="82296" cy="475488"/>
          </a:xfrm>
          <a:prstGeom prst="rect">
            <a:avLst/>
          </a:prstGeom>
          <a:solidFill>
            <a:srgbClr val="7ED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566928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Fatores de certeza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207008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A8C8CD"/>
                </a:solidFill>
                <a:latin typeface="Segoe UI"/>
              </a:rPr>
              <a:t>Modelo MYCIN — como a evidência se acumula, passo a passo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6766560" cy="3749039"/>
          </a:xfrm>
          <a:prstGeom prst="roundRect">
            <a:avLst>
              <a:gd name="adj" fmla="val 4000"/>
            </a:avLst>
          </a:prstGeom>
          <a:solidFill>
            <a:srgbClr val="052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164592"/>
          <a:lstStyle/>
          <a:p>
            <a:pPr algn="ctr">
              <a:lnSpc>
                <a:spcPct val="135000"/>
              </a:lnSpc>
            </a:pPr>
            <a:r>
              <a:rPr sz="1250" b="1">
                <a:solidFill>
                  <a:srgbClr val="7ED7A1"/>
                </a:solidFill>
                <a:latin typeface="Consolas"/>
              </a:rPr>
              <a:t>Vaca com grumos no leite, úbere dolorido e inchado, sem febre</a:t>
            </a:r>
          </a:p>
          <a:p>
            <a:pPr>
              <a:lnSpc>
                <a:spcPct val="135000"/>
              </a:lnSpc>
            </a:pPr>
            <a:r>
              <a:rPr sz="1250" b="0">
                <a:solidFill>
                  <a:srgbClr val="C3DCE0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250" b="1">
                <a:solidFill>
                  <a:srgbClr val="7ED7A1"/>
                </a:solidFill>
                <a:latin typeface="Consolas"/>
              </a:rPr>
              <a:t>1. MAST-CLIN-G1</a:t>
            </a:r>
          </a:p>
          <a:p>
            <a:pPr>
              <a:lnSpc>
                <a:spcPct val="135000"/>
              </a:lnSpc>
            </a:pPr>
            <a:r>
              <a:rPr sz="1250" b="0">
                <a:solidFill>
                  <a:srgbClr val="C3DCE0"/>
                </a:solidFill>
                <a:latin typeface="Consolas"/>
              </a:rPr>
              <a:t>   premissa: alguma(grumos = sim [+1,00])        → max = 1,00</a:t>
            </a:r>
          </a:p>
          <a:p>
            <a:pPr>
              <a:lnSpc>
                <a:spcPct val="135000"/>
              </a:lnSpc>
            </a:pPr>
            <a:r>
              <a:rPr sz="1250" b="0">
                <a:solidFill>
                  <a:srgbClr val="C3DCE0"/>
                </a:solidFill>
                <a:latin typeface="Consolas"/>
              </a:rPr>
              <a:t>   conclusão: CF = 0,95 × 1,00                   = 0,95</a:t>
            </a:r>
          </a:p>
          <a:p>
            <a:pPr>
              <a:lnSpc>
                <a:spcPct val="135000"/>
              </a:lnSpc>
            </a:pPr>
            <a:r>
              <a:rPr sz="1250" b="0">
                <a:solidFill>
                  <a:srgbClr val="C3DCE0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250" b="1">
                <a:solidFill>
                  <a:srgbClr val="7ED7A1"/>
                </a:solidFill>
                <a:latin typeface="Consolas"/>
              </a:rPr>
              <a:t>2. MAST-CLIN-G2</a:t>
            </a:r>
          </a:p>
          <a:p>
            <a:pPr>
              <a:lnSpc>
                <a:spcPct val="135000"/>
              </a:lnSpc>
            </a:pPr>
            <a:r>
              <a:rPr sz="1250" b="0">
                <a:solidFill>
                  <a:srgbClr val="C3DCE0"/>
                </a:solidFill>
                <a:latin typeface="Consolas"/>
              </a:rPr>
              <a:t>   premissa: todas( grau 1 → 0,95 ; dor → 1,00 ) → min = 0,95</a:t>
            </a:r>
          </a:p>
          <a:p>
            <a:pPr>
              <a:lnSpc>
                <a:spcPct val="135000"/>
              </a:lnSpc>
            </a:pPr>
            <a:r>
              <a:rPr sz="1250" b="0">
                <a:solidFill>
                  <a:srgbClr val="C3DCE0"/>
                </a:solidFill>
                <a:latin typeface="Consolas"/>
              </a:rPr>
              <a:t>   conclusão: CF = 0,90 × 0,95                   = 0,855</a:t>
            </a:r>
          </a:p>
          <a:p>
            <a:pPr>
              <a:lnSpc>
                <a:spcPct val="135000"/>
              </a:lnSpc>
            </a:pPr>
            <a:r>
              <a:rPr sz="1250" b="0">
                <a:solidFill>
                  <a:srgbClr val="C3DCE0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250" b="1">
                <a:solidFill>
                  <a:srgbClr val="7ED7A1"/>
                </a:solidFill>
                <a:latin typeface="Consolas"/>
              </a:rPr>
              <a:t>3. MAST-CLIN-G3 fica PENDENTE</a:t>
            </a:r>
          </a:p>
          <a:p>
            <a:pPr>
              <a:lnSpc>
                <a:spcPct val="135000"/>
              </a:lnSpc>
            </a:pPr>
            <a:r>
              <a:rPr sz="1250" b="0">
                <a:solidFill>
                  <a:srgbClr val="C3DCE0"/>
                </a:solidFill>
                <a:latin typeface="Consolas"/>
              </a:rPr>
              <a:t>   febre = não, apetite = não, desidratação = ?, apatia = ?</a:t>
            </a:r>
          </a:p>
          <a:p>
            <a:pPr>
              <a:lnSpc>
                <a:spcPct val="135000"/>
              </a:lnSpc>
            </a:pPr>
            <a:r>
              <a:rPr sz="1250" b="0">
                <a:solidFill>
                  <a:srgbClr val="C3DCE0"/>
                </a:solidFill>
                <a:latin typeface="Consolas"/>
              </a:rPr>
              <a:t>   A disjunção não resolve → o motor PERGUNTA em vez de concluir.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96596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054750"/>
          </a:solidFill>
          <a:ln w="15875">
            <a:solidFill>
              <a:srgbClr val="1A6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Resultado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C3DCE0"/>
                </a:solidFill>
                <a:latin typeface="Segoe UI"/>
              </a:rPr>
              <a:t>Mastite clínica grau 2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C3DCE0"/>
                </a:solidFill>
                <a:latin typeface="Segoe UI"/>
              </a:rPr>
              <a:t>CF 0,855 — “Muito provável”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965960"/>
            <a:ext cx="50292" cy="1188720"/>
          </a:xfrm>
          <a:prstGeom prst="rect">
            <a:avLst/>
          </a:prstGeom>
          <a:solidFill>
            <a:srgbClr val="7ED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0" y="329184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054750"/>
          </a:solidFill>
          <a:ln w="15875">
            <a:solidFill>
              <a:srgbClr val="1A6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Conjunção e disjunção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C3DCE0"/>
                </a:solidFill>
                <a:latin typeface="Segoe UI"/>
              </a:rPr>
              <a:t>min sobre E · max sobre OU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C3DCE0"/>
                </a:solidFill>
                <a:latin typeface="Segoe UI"/>
              </a:rPr>
              <a:t>limiar de corte 0,2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3291840"/>
            <a:ext cx="50292" cy="1143000"/>
          </a:xfrm>
          <a:prstGeom prst="rect">
            <a:avLst/>
          </a:prstGeom>
          <a:solidFill>
            <a:srgbClr val="7ED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63840" y="457200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054750"/>
          </a:solidFill>
          <a:ln w="15875">
            <a:solidFill>
              <a:srgbClr val="1A6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Subsunção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C3DCE0"/>
                </a:solidFill>
                <a:latin typeface="Segoe UI"/>
              </a:rPr>
              <a:t>O grau 2 substitui o grau 1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C3DCE0"/>
                </a:solidFill>
                <a:latin typeface="Segoe UI"/>
              </a:rPr>
              <a:t>no ranking — e o traço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C3DCE0"/>
                </a:solidFill>
                <a:latin typeface="Segoe UI"/>
              </a:rPr>
              <a:t>preserva a cadeia.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4572000"/>
            <a:ext cx="50292" cy="1143000"/>
          </a:xfrm>
          <a:prstGeom prst="rect">
            <a:avLst/>
          </a:prstGeom>
          <a:solidFill>
            <a:srgbClr val="7ED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58368"/>
            <a:ext cx="82296" cy="475488"/>
          </a:xfrm>
          <a:prstGeom prst="rect">
            <a:avLst/>
          </a:prstGeom>
          <a:solidFill>
            <a:srgbClr val="01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566928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015B66"/>
                </a:solidFill>
                <a:latin typeface="Segoe UI"/>
              </a:rPr>
              <a:t>“Não sei” não é “não”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207008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24E57"/>
                </a:solidFill>
                <a:latin typeface="Segoe UI"/>
              </a:rPr>
              <a:t>A distinção que separa um sistema especialista de um formulário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5204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Sim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valor = verdadeiro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confiança = 1,0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50292" cy="1463040"/>
          </a:xfrm>
          <a:prstGeom prst="rect">
            <a:avLst/>
          </a:prstGeom>
          <a:solidFill>
            <a:srgbClr val="2E8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34840" y="2103120"/>
            <a:ext cx="35204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Não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valor = falso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confiança = 1,0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2103120"/>
            <a:ext cx="50292" cy="1463040"/>
          </a:xfrm>
          <a:prstGeom prst="rect">
            <a:avLst/>
          </a:prstGeom>
          <a:solidFill>
            <a:srgbClr val="01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0" y="2103120"/>
            <a:ext cx="33375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Não sei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NADA é gravado.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A regra fica pendente.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103120"/>
            <a:ext cx="50292" cy="14630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728655" cy="1600200"/>
          </a:xfrm>
          <a:prstGeom prst="roundRect">
            <a:avLst>
              <a:gd name="adj" fmla="val 8000"/>
            </a:avLst>
          </a:prstGeom>
          <a:solidFill>
            <a:srgbClr val="FCEAE7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01168"/>
          <a:lstStyle/>
          <a:p>
            <a:pPr algn="ctr"/>
            <a:r>
              <a:rPr sz="1400" b="1">
                <a:solidFill>
                  <a:srgbClr val="0F1F2C"/>
                </a:solidFill>
                <a:latin typeface="Segoe UI"/>
              </a:rPr>
              <a:t>Se a ausência de informação virasse “não”, o sistema concluiria “sem alteração” com alta confiança a partir de um questionário mal respondido.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424E57"/>
                </a:solidFill>
                <a:latin typeface="Segoe UI"/>
              </a:rPr>
              <a:t>Em triagem veterinária, isso é o pior erro possível: um falso negativo confiante. O motor prefere perguntar.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58368"/>
            <a:ext cx="82296" cy="475488"/>
          </a:xfrm>
          <a:prstGeom prst="rect">
            <a:avLst/>
          </a:prstGeom>
          <a:solidFill>
            <a:srgbClr val="01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566928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015B66"/>
                </a:solidFill>
                <a:latin typeface="Segoe UI"/>
              </a:rPr>
              <a:t>Explicabilidade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207008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24E57"/>
                </a:solidFill>
                <a:latin typeface="Segoe UI"/>
              </a:rPr>
              <a:t>O módulo de explicação responde às duas perguntas do modelo conceitual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53492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“Por que essa pergunta?”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Durante o questionário, o app lista as regras pendentes que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dependem da variável perguntada e as hipóteses que elas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sustentam.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/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“Estou perguntando sobre febre porque isso separa a mastite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clínica grau 2 do grau 3 — e no grau 3 a vaca corre risco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de morrer.”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50292" cy="3566160"/>
          </a:xfrm>
          <a:prstGeom prst="rect">
            <a:avLst/>
          </a:prstGeom>
          <a:solidFill>
            <a:srgbClr val="01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55080" y="1965960"/>
            <a:ext cx="51206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“Como cheguei nisso?”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No parecer, a cadeia completa é reconstruída de trás para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frente: regra → premissas → fatos → regras que produziram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aqueles fatos, recursivamente.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/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Cada etapa mostra o fator de certeza e a FONTE.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O traço inteiro é gravado no prontuário e exportável.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965960"/>
            <a:ext cx="50292" cy="3566160"/>
          </a:xfrm>
          <a:prstGeom prst="rect">
            <a:avLst/>
          </a:prstGeom>
          <a:solidFill>
            <a:srgbClr val="01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291072"/>
            <a:ext cx="107286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1">
                <a:solidFill>
                  <a:srgbClr val="7A858D"/>
                </a:solidFill>
                <a:latin typeface="Segoe UI"/>
              </a:rPr>
              <a:t>O prontuário guarda a versão da base e do motor. Ao reabrir, o app re-executa a inferência — e avisa se a base mudou desde o atendimento.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2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5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ED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05156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4600" b="1" i="0">
                <a:solidFill>
                  <a:srgbClr val="FFFFFF"/>
                </a:solidFill>
                <a:latin typeface="Segoe UI"/>
              </a:rPr>
              <a:t>DEMONSTRAÇÃO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9659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7ED7A1"/>
                </a:solidFill>
                <a:latin typeface="Segoe UI"/>
              </a:rPr>
              <a:t>rodando em localhost, offline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1783080" cy="1828800"/>
          </a:xfrm>
          <a:prstGeom prst="roundRect">
            <a:avLst>
              <a:gd name="adj" fmla="val 8000"/>
            </a:avLst>
          </a:prstGeom>
          <a:solidFill>
            <a:srgbClr val="054750"/>
          </a:solidFill>
          <a:ln w="15875">
            <a:solidFill>
              <a:srgbClr val="1A6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1.  Dashboard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C3DCE0"/>
                </a:solidFill>
                <a:latin typeface="Segoe UI"/>
              </a:rPr>
              <a:t>alertas, metas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C3DCE0"/>
                </a:solidFill>
                <a:latin typeface="Segoe UI"/>
              </a:rPr>
              <a:t>e carência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50292" cy="1828800"/>
          </a:xfrm>
          <a:prstGeom prst="rect">
            <a:avLst/>
          </a:prstGeom>
          <a:solidFill>
            <a:srgbClr val="7ED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06039" y="2926080"/>
            <a:ext cx="1783080" cy="1828800"/>
          </a:xfrm>
          <a:prstGeom prst="roundRect">
            <a:avLst>
              <a:gd name="adj" fmla="val 8000"/>
            </a:avLst>
          </a:prstGeom>
          <a:solidFill>
            <a:srgbClr val="054750"/>
          </a:solidFill>
          <a:ln w="15875">
            <a:solidFill>
              <a:srgbClr val="1A6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2.  Anamnese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C3DCE0"/>
                </a:solidFill>
                <a:latin typeface="Segoe UI"/>
              </a:rPr>
              <a:t>“o que eu já sei”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C3DCE0"/>
                </a:solidFill>
                <a:latin typeface="Segoe UI"/>
              </a:rPr>
              <a:t>+ por que essa pergunta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2926080"/>
            <a:ext cx="50292" cy="1828800"/>
          </a:xfrm>
          <a:prstGeom prst="rect">
            <a:avLst/>
          </a:prstGeom>
          <a:solidFill>
            <a:srgbClr val="7ED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59" y="2926080"/>
            <a:ext cx="1783080" cy="1828800"/>
          </a:xfrm>
          <a:prstGeom prst="roundRect">
            <a:avLst>
              <a:gd name="adj" fmla="val 8000"/>
            </a:avLst>
          </a:prstGeom>
          <a:solidFill>
            <a:srgbClr val="054750"/>
          </a:solidFill>
          <a:ln w="15875">
            <a:solidFill>
              <a:srgbClr val="1A6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3.  Grau 1 → grau 3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C3DCE0"/>
                </a:solidFill>
                <a:latin typeface="Segoe UI"/>
              </a:rPr>
              <a:t>bandeira vermelha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C3DCE0"/>
                </a:solidFill>
                <a:latin typeface="Segoe UI"/>
              </a:rPr>
              <a:t>interrompe tudo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926080"/>
            <a:ext cx="50292" cy="1828800"/>
          </a:xfrm>
          <a:prstGeom prst="rect">
            <a:avLst/>
          </a:prstGeom>
          <a:solidFill>
            <a:srgbClr val="7ED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79" y="2926080"/>
            <a:ext cx="1783080" cy="1828800"/>
          </a:xfrm>
          <a:prstGeom prst="roundRect">
            <a:avLst>
              <a:gd name="adj" fmla="val 8000"/>
            </a:avLst>
          </a:prstGeom>
          <a:solidFill>
            <a:srgbClr val="054750"/>
          </a:solidFill>
          <a:ln w="15875">
            <a:solidFill>
              <a:srgbClr val="1A6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4.  Como cheguei nisso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C3DCE0"/>
                </a:solidFill>
                <a:latin typeface="Segoe UI"/>
              </a:rPr>
              <a:t>traço completo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C3DCE0"/>
                </a:solidFill>
                <a:latin typeface="Segoe UI"/>
              </a:rPr>
              <a:t>com as fontes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79" y="2926080"/>
            <a:ext cx="50292" cy="1828800"/>
          </a:xfrm>
          <a:prstGeom prst="rect">
            <a:avLst/>
          </a:prstGeom>
          <a:solidFill>
            <a:srgbClr val="7ED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2926080"/>
            <a:ext cx="1783080" cy="1828800"/>
          </a:xfrm>
          <a:prstGeom prst="roundRect">
            <a:avLst>
              <a:gd name="adj" fmla="val 8000"/>
            </a:avLst>
          </a:prstGeom>
          <a:solidFill>
            <a:srgbClr val="054750"/>
          </a:solidFill>
          <a:ln w="15875">
            <a:solidFill>
              <a:srgbClr val="1A6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5.  Prontuário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C3DCE0"/>
                </a:solidFill>
                <a:latin typeface="Segoe UI"/>
              </a:rPr>
              <a:t>reabre e reproduz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C3DCE0"/>
                </a:solidFill>
                <a:latin typeface="Segoe UI"/>
              </a:rPr>
              <a:t>o mesmo parecer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926080"/>
            <a:ext cx="50292" cy="1828800"/>
          </a:xfrm>
          <a:prstGeom prst="rect">
            <a:avLst/>
          </a:prstGeom>
          <a:solidFill>
            <a:srgbClr val="7ED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104120" y="2926080"/>
            <a:ext cx="1783080" cy="1828800"/>
          </a:xfrm>
          <a:prstGeom prst="roundRect">
            <a:avLst>
              <a:gd name="adj" fmla="val 8000"/>
            </a:avLst>
          </a:prstGeom>
          <a:solidFill>
            <a:srgbClr val="054750"/>
          </a:solidFill>
          <a:ln w="15875">
            <a:solidFill>
              <a:srgbClr val="1A6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6.  Base + testes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C3DCE0"/>
                </a:solidFill>
                <a:latin typeface="Segoe UI"/>
              </a:rPr>
              <a:t>28 casos rodando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C3DCE0"/>
                </a:solidFill>
                <a:latin typeface="Segoe UI"/>
              </a:rPr>
              <a:t>ao vivo na tela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04120" y="2926080"/>
            <a:ext cx="50292" cy="1828800"/>
          </a:xfrm>
          <a:prstGeom prst="rect">
            <a:avLst/>
          </a:prstGeom>
          <a:solidFill>
            <a:srgbClr val="7ED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58368"/>
            <a:ext cx="82296" cy="475488"/>
          </a:xfrm>
          <a:prstGeom prst="rect">
            <a:avLst/>
          </a:prstGeom>
          <a:solidFill>
            <a:srgbClr val="01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566928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015B66"/>
                </a:solidFill>
                <a:latin typeface="Segoe UI"/>
              </a:rPr>
              <a:t>Validação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207008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24E57"/>
                </a:solidFill>
                <a:latin typeface="Segoe UI"/>
              </a:rPr>
              <a:t>“Defina casos de teste com resultado esperado” — diretriz do regulamento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4200" b="1" i="0">
                <a:solidFill>
                  <a:srgbClr val="2E8B5A"/>
                </a:solidFill>
                <a:latin typeface="Segoe UI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87752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424E57"/>
                </a:solidFill>
                <a:latin typeface="Segoe UI"/>
              </a:rPr>
              <a:t>casos de teste com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424E57"/>
                </a:solidFill>
                <a:latin typeface="Segoe UI"/>
              </a:rPr>
              <a:t>resultado esperado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874519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4200" b="1" i="0">
                <a:solidFill>
                  <a:srgbClr val="2E8B5A"/>
                </a:solidFill>
                <a:latin typeface="Segoe UI"/>
              </a:rPr>
              <a:t>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587752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424E57"/>
                </a:solidFill>
                <a:latin typeface="Segoe UI"/>
              </a:rPr>
              <a:t>testes automatizados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424E57"/>
                </a:solidFill>
                <a:latin typeface="Segoe UI"/>
              </a:rPr>
              <a:t>no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4200" b="1" i="0">
                <a:solidFill>
                  <a:srgbClr val="2E8B5A"/>
                </a:solidFill>
                <a:latin typeface="Segoe UI"/>
              </a:rPr>
              <a:t>&lt; 1s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87752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424E57"/>
                </a:solidFill>
                <a:latin typeface="Segoe UI"/>
              </a:rPr>
              <a:t>para rodar a suíte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424E57"/>
                </a:solidFill>
                <a:latin typeface="Segoe UI"/>
              </a:rPr>
              <a:t>completa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874519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4200" b="1" i="0">
                <a:solidFill>
                  <a:srgbClr val="2E8B5A"/>
                </a:solidFill>
                <a:latin typeface="Segoe UI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2587752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424E57"/>
                </a:solidFill>
                <a:latin typeface="Segoe UI"/>
              </a:rPr>
              <a:t>passando na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424E57"/>
                </a:solidFill>
                <a:latin typeface="Segoe UI"/>
              </a:rPr>
              <a:t>base v1.0.0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03320"/>
            <a:ext cx="35204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Cobertura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Os 3 graus clínicos · subclínica por CMT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em cada nível e por CCS · crônica ·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peito perdido · notificação obrigatória ·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2 casos NEGATIVOS · 1 caso ambíguo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03320"/>
            <a:ext cx="50292" cy="1828800"/>
          </a:xfrm>
          <a:prstGeom prst="rect">
            <a:avLst/>
          </a:prstGeom>
          <a:solidFill>
            <a:srgbClr val="01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3703320"/>
            <a:ext cx="35204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Rodam em três lugares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1. na suíte automatizada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2. no CI local antes de mexer na base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3. DENTRO DO APP, na tela da base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    de conhecimento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3703320"/>
            <a:ext cx="50292" cy="1828800"/>
          </a:xfrm>
          <a:prstGeom prst="rect">
            <a:avLst/>
          </a:prstGeom>
          <a:solidFill>
            <a:srgbClr val="01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370332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Banco testado de verdade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O backend do SQLite é injetável: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o esquema, o seed e as consultas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rodam contra um SQLite real,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sem navegador e sem aparelho.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3703320"/>
            <a:ext cx="50292" cy="1828800"/>
          </a:xfrm>
          <a:prstGeom prst="rect">
            <a:avLst/>
          </a:prstGeom>
          <a:solidFill>
            <a:srgbClr val="01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21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25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257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279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279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30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30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58368"/>
            <a:ext cx="82296" cy="475488"/>
          </a:xfrm>
          <a:prstGeom prst="rect">
            <a:avLst/>
          </a:prstGeom>
          <a:solidFill>
            <a:srgbClr val="01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566928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015B66"/>
                </a:solidFill>
                <a:latin typeface="Segoe UI"/>
              </a:rPr>
              <a:t>Os números batem com a cartilha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207008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24E57"/>
                </a:solidFill>
                <a:latin typeface="Segoe UI"/>
              </a:rPr>
              <a:t>A suíte reproduz o exemplo publicado da propriedade do Sr. João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6400800" cy="3657600"/>
          </a:xfrm>
          <a:prstGeom prst="roundRect">
            <a:avLst>
              <a:gd name="adj" fmla="val 4000"/>
            </a:avLst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164592"/>
          <a:lstStyle/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424E57"/>
                </a:solidFill>
                <a:latin typeface="Consolas"/>
              </a:rPr>
              <a:t>custo por litro                    R$ 0,593   ✓</a:t>
            </a:r>
          </a:p>
          <a:p>
            <a:pPr>
              <a:lnSpc>
                <a:spcPct val="135000"/>
              </a:lnSpc>
            </a:pPr>
            <a:r>
              <a:rPr sz="1250" b="0">
                <a:solidFill>
                  <a:srgbClr val="424E57"/>
                </a:solidFill>
                <a:latin typeface="Consolas"/>
              </a:rPr>
              <a:t>diferença preço − custo            R$ 0,477   ✓</a:t>
            </a:r>
          </a:p>
          <a:p>
            <a:pPr>
              <a:lnSpc>
                <a:spcPct val="135000"/>
              </a:lnSpc>
            </a:pPr>
            <a:r>
              <a:rPr sz="1250" b="0">
                <a:solidFill>
                  <a:srgbClr val="424E57"/>
                </a:solidFill>
                <a:latin typeface="Consolas"/>
              </a:rPr>
              <a:t>custo operacional total         R$ 17.463,00   ✓</a:t>
            </a:r>
          </a:p>
          <a:p>
            <a:pPr>
              <a:lnSpc>
                <a:spcPct val="135000"/>
              </a:lnSpc>
            </a:pPr>
            <a:r>
              <a:rPr sz="1250" b="0">
                <a:solidFill>
                  <a:srgbClr val="424E57"/>
                </a:solidFill>
                <a:latin typeface="Consolas"/>
              </a:rPr>
              <a:t>custo operacional por litro        R$ 0,957   ✓</a:t>
            </a:r>
          </a:p>
          <a:p>
            <a:pPr>
              <a:lnSpc>
                <a:spcPct val="135000"/>
              </a:lnSpc>
            </a:pPr>
            <a:r>
              <a:rPr sz="1250" b="0">
                <a:solidFill>
                  <a:srgbClr val="424E57"/>
                </a:solidFill>
                <a:latin typeface="Consolas"/>
              </a:rPr>
              <a:t>margem líquida                   R$ 5.074,00   ✓</a:t>
            </a:r>
          </a:p>
          <a:p>
            <a:pPr>
              <a:lnSpc>
                <a:spcPct val="135000"/>
              </a:lnSpc>
            </a:pPr>
            <a:r>
              <a:rPr sz="1250" b="0">
                <a:solidFill>
                  <a:srgbClr val="424E57"/>
                </a:solidFill>
                <a:latin typeface="Consolas"/>
              </a:rPr>
              <a:t>leite por vaca em lactação          18,4 L/d   ✓</a:t>
            </a:r>
          </a:p>
          <a:p>
            <a:pPr>
              <a:lnSpc>
                <a:spcPct val="135000"/>
              </a:lnSpc>
            </a:pPr>
            <a:r>
              <a:rPr sz="1250" b="0">
                <a:solidFill>
                  <a:srgbClr val="424E57"/>
                </a:solidFill>
                <a:latin typeface="Consolas"/>
              </a:rPr>
              <a:t>% de vacas em lactação                   76%   ✓</a:t>
            </a:r>
          </a:p>
          <a:p>
            <a:pPr>
              <a:lnSpc>
                <a:spcPct val="135000"/>
              </a:lnSpc>
            </a:pPr>
            <a:r>
              <a:rPr sz="1250" b="0">
                <a:solidFill>
                  <a:srgbClr val="424E57"/>
                </a:solidFill>
                <a:latin typeface="Consolas"/>
              </a:rPr>
              <a:t>% de vacas no rebanho                  46,2%   ✓</a:t>
            </a:r>
          </a:p>
          <a:p>
            <a:pPr>
              <a:lnSpc>
                <a:spcPct val="135000"/>
              </a:lnSpc>
            </a:pPr>
            <a:r>
              <a:rPr sz="1250" b="0">
                <a:solidFill>
                  <a:srgbClr val="424E57"/>
                </a:solidFill>
                <a:latin typeface="Consolas"/>
              </a:rPr>
              <a:t>leite por mão de obra por dia          294 L   ✓</a:t>
            </a:r>
          </a:p>
          <a:p>
            <a:pPr>
              <a:lnSpc>
                <a:spcPct val="135000"/>
              </a:lnSpc>
            </a:pPr>
            <a:r>
              <a:rPr sz="1250" b="0">
                <a:solidFill>
                  <a:srgbClr val="424E57"/>
                </a:solidFill>
                <a:latin typeface="Consolas"/>
              </a:rPr>
              <a:t>leite por área por ano             4.563 L/ha   ✓</a:t>
            </a:r>
          </a:p>
          <a:p>
            <a:pPr>
              <a:lnSpc>
                <a:spcPct val="135000"/>
              </a:lnSpc>
            </a:pPr>
            <a:r>
              <a:rPr sz="1250" b="1">
                <a:solidFill>
                  <a:srgbClr val="015B66"/>
                </a:solidFill>
                <a:latin typeface="Consolas"/>
              </a:rPr>
              <a:t>% de mastite clínica (exemplo p. 38)    4,8%  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920240"/>
            <a:ext cx="3977639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E duas divergências na própria cartilha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1. Produção mensal: a cartilha manda somar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    15416+434+2120+279 e imprime 18.251.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    A soma dá 18.249.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/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2. Margem bruta: imprime 12.636, o que exigiria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    receitas de 23.459 — mas as receitas que ela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    própria detalha somam 22.537, e é esse valor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    que reproduz a margem líquida publicada.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/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Mantivemos as fórmulas corretas e documentamos.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920240"/>
            <a:ext cx="50292" cy="36576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58368"/>
            <a:ext cx="82296" cy="475488"/>
          </a:xfrm>
          <a:prstGeom prst="rect">
            <a:avLst/>
          </a:prstGeom>
          <a:solidFill>
            <a:srgbClr val="01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566928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015B66"/>
                </a:solidFill>
                <a:latin typeface="Segoe UI"/>
              </a:rPr>
              <a:t>Da anamnese ao bolso do produtor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207008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24E57"/>
                </a:solidFill>
                <a:latin typeface="Segoe UI"/>
              </a:rPr>
              <a:t>O que liga o diagnóstico ao resultado da propriedade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Margem por vaca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Receita do leite aproveitado,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menos o custo dos tratamentos,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menos o leite descartado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por carência.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50292" cy="1874519"/>
          </a:xfrm>
          <a:prstGeom prst="rect">
            <a:avLst/>
          </a:prstGeom>
          <a:solidFill>
            <a:srgbClr val="2E8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34840" y="1965960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Carência automática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Registrar uma aplicação bloqueia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o leite, cria o evento de fim de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carência e lança a despesa em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“Sanidade e medicamentos”.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965960"/>
            <a:ext cx="50292" cy="1874519"/>
          </a:xfrm>
          <a:prstGeom prst="rect">
            <a:avLst/>
          </a:prstGeom>
          <a:solidFill>
            <a:srgbClr val="01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0" y="1965960"/>
            <a:ext cx="33375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Metas da Embrapa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% de mastite clínica e subclínica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calculados pelas fórmulas da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cartilha, comparados às metas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de 2% e 20%.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965960"/>
            <a:ext cx="50292" cy="1874519"/>
          </a:xfrm>
          <a:prstGeom prst="rect">
            <a:avLst/>
          </a:prstGeom>
          <a:solidFill>
            <a:srgbClr val="01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4160520"/>
            <a:ext cx="10728655" cy="1371600"/>
          </a:xfrm>
          <a:prstGeom prst="roundRect">
            <a:avLst>
              <a:gd name="adj" fmla="val 8000"/>
            </a:avLst>
          </a:prstGeom>
          <a:solidFill>
            <a:srgbClr val="FEF6E9"/>
          </a:solidFill>
          <a:ln w="15875">
            <a:solidFill>
              <a:srgbClr val="01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01168"/>
          <a:lstStyle/>
          <a:p>
            <a:pPr algn="ctr"/>
            <a:r>
              <a:rPr sz="1400" b="1">
                <a:solidFill>
                  <a:srgbClr val="0F1F2C"/>
                </a:solidFill>
                <a:latin typeface="Segoe UI"/>
              </a:rPr>
              <a:t>O financeiro usa as categorias e os indicadores exatos da planilha da Embrapa — a mesma que o produtor já conhece.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424E57"/>
                </a:solidFill>
                <a:latin typeface="Segoe UI"/>
              </a:rPr>
              <a:t>Identificar mastite cedo deixa de ser recomendação técnica e vira um número em reais na tela.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58368"/>
            <a:ext cx="82296" cy="475488"/>
          </a:xfrm>
          <a:prstGeom prst="rect">
            <a:avLst/>
          </a:prstGeom>
          <a:solidFill>
            <a:srgbClr val="01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566928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015B66"/>
                </a:solidFill>
                <a:latin typeface="Segoe UI"/>
              </a:rPr>
              <a:t>O processo com a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207008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24E57"/>
                </a:solidFill>
                <a:latin typeface="Segoe UI"/>
              </a:rPr>
              <a:t>Onde ela ajudou, onde errou, e o que foi preciso entender para corrigir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A correção que definiu o projeto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O rascunho inicial descrevia “algoritmos que fazem perguntas” — um formulário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ramificado. A leitura do regulamento mostrou que o pedido era outro.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0292" cy="1371600"/>
          </a:xfrm>
          <a:prstGeom prst="rect">
            <a:avLst/>
          </a:prstGeom>
          <a:solidFill>
            <a:srgbClr val="2E8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26517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0F1F2C"/>
                </a:solidFill>
                <a:latin typeface="Segoe UI"/>
              </a:rPr>
              <a:t>1. Backward chaining
sem recursão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Queria perguntar “a mama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está dolorida?” antes de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“o leite tem grumos?”.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/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Ordem clinicamente errada.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474720"/>
            <a:ext cx="50292" cy="2103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3474720"/>
            <a:ext cx="26517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0F1F2C"/>
                </a:solidFill>
                <a:latin typeface="Segoe UI"/>
              </a:rPr>
              <a:t>2. Aspas duplas
em SQL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Em SQLite, aspas duplas são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identificadores. A busca do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rebanho quebraria na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primeira palavra digitada.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3474720"/>
            <a:ext cx="50292" cy="2103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3474720"/>
            <a:ext cx="26517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0F1F2C"/>
                </a:solidFill>
                <a:latin typeface="Segoe UI"/>
              </a:rPr>
              <a:t>3. Subsunção
ausente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O grau 1 ranqueava acima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do grau 2. A tentação era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mexer nos CF — seria errado: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CF é certeza, não gravidade.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474720"/>
            <a:ext cx="50292" cy="2103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35440" y="3474720"/>
            <a:ext cx="22402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0F1F2C"/>
                </a:solidFill>
                <a:latin typeface="Segoe UI"/>
              </a:rPr>
              <a:t>4. WebAssembly
fora do pacote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O app empacotado abriria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sem banco. Só apareceu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porque rodamos o export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de produção.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3474720"/>
            <a:ext cx="50292" cy="2103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192024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Todos encontrados por teste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Nenhum desses quatro apareceu em revisão visual. Três quebrariam 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demonstração ao vivo.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920240"/>
            <a:ext cx="50292" cy="13716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2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58368"/>
            <a:ext cx="82296" cy="475488"/>
          </a:xfrm>
          <a:prstGeom prst="rect">
            <a:avLst/>
          </a:prstGeom>
          <a:solidFill>
            <a:srgbClr val="01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566928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015B66"/>
                </a:solidFill>
                <a:latin typeface="Segoe UI"/>
              </a:rPr>
              <a:t>O que o Dr. Moo NÃO faz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207008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24E57"/>
                </a:solidFill>
                <a:latin typeface="Segoe UI"/>
              </a:rPr>
              <a:t>Declarar o limite é parte da entrega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Não prescreve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Nenhum medicamento,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nenhuma dose.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0292" cy="1554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34840" y="201168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Não diagnostica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Faz TRIAGEM explicável.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Não fecha diagnóstico.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2011680"/>
            <a:ext cx="50292" cy="1554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0" y="2011680"/>
            <a:ext cx="33375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Não substitui o veterinário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Todo parecer termina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com esse aviso.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011680"/>
            <a:ext cx="50292" cy="1554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Próximos passos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Validar os grupos clínicos 03–09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com médico-veterinário e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promovê-los a “validada”.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749039"/>
            <a:ext cx="50292" cy="1737360"/>
          </a:xfrm>
          <a:prstGeom prst="rect">
            <a:avLst/>
          </a:prstGeom>
          <a:solidFill>
            <a:srgbClr val="0E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3749039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Rede local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Hoje é tela protótipo, declarada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como tal no próprio app.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O desenho está documentado.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3749039"/>
            <a:ext cx="50292" cy="1737360"/>
          </a:xfrm>
          <a:prstGeom prst="rect">
            <a:avLst/>
          </a:prstGeom>
          <a:solidFill>
            <a:srgbClr val="0E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3749039"/>
            <a:ext cx="33375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1F2C"/>
                </a:solidFill>
                <a:latin typeface="Segoe UI"/>
              </a:rPr>
              <a:t>Fora de escopo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Formulação de dietas (T2) e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análise econômica avançada (T3)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00">
                <a:solidFill>
                  <a:srgbClr val="424E57"/>
                </a:solidFill>
                <a:latin typeface="Segoe UI"/>
              </a:rPr>
              <a:t>— são os outros temas.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3749039"/>
            <a:ext cx="50292" cy="1737360"/>
          </a:xfrm>
          <a:prstGeom prst="rect">
            <a:avLst/>
          </a:prstGeom>
          <a:solidFill>
            <a:srgbClr val="0E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5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ED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463040"/>
            <a:ext cx="12191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5200" b="1" i="0">
                <a:solidFill>
                  <a:srgbClr val="FFFFFF"/>
                </a:solidFill>
                <a:latin typeface="Segoe UI"/>
              </a:rPr>
              <a:t>Dr. Moo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23160"/>
            <a:ext cx="94484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BFE3E7"/>
                </a:solidFill>
                <a:latin typeface="Segoe UI"/>
              </a:rPr>
              <a:t>Base de conhecimento explícita · motor de inferência determinístico</a:t>
            </a:r>
          </a:p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BFE3E7"/>
                </a:solidFill>
                <a:latin typeface="Segoe UI"/>
              </a:rPr>
              <a:t>explicação auditável · roda por completo em localhost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3611880"/>
            <a:ext cx="2011680" cy="32004"/>
          </a:xfrm>
          <a:prstGeom prst="rect">
            <a:avLst/>
          </a:prstGeom>
          <a:solidFill>
            <a:srgbClr val="7ED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931920"/>
            <a:ext cx="121916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700" b="0" i="0">
                <a:solidFill>
                  <a:srgbClr val="7ED7A1"/>
                </a:solidFill>
                <a:latin typeface="Consolas"/>
              </a:rPr>
              <a:t>git clone  →  npm install  →  npm run dev</a:t>
            </a:r>
          </a:p>
          <a:p>
            <a:pPr algn="ctr">
              <a:lnSpc>
                <a:spcPct val="150000"/>
              </a:lnSpc>
            </a:pPr>
            <a:r>
              <a:rPr sz="1700" b="0" i="0">
                <a:solidFill>
                  <a:srgbClr val="7ED7A1"/>
                </a:solidFill>
                <a:latin typeface="Consolas"/>
              </a:rPr>
              <a:t>http://localhost:8081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57784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Obrigado.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